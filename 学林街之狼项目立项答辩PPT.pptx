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7F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05A33"/>
          </a:solidFill>
          <a:ln w="12700">
            <a:solidFill>
              <a:srgbClr val="E05A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6327648"/>
            <a:ext cx="11183112" cy="9144"/>
          </a:xfrm>
          <a:prstGeom prst="rect">
            <a:avLst/>
          </a:prstGeom>
          <a:solidFill>
            <a:srgbClr val="C9C3B8"/>
          </a:solidFill>
          <a:ln w="12700">
            <a:solidFill>
              <a:srgbClr val="C9C3B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6419088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66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学林街之狼 | 项目立项答辩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7680960" y="6419088"/>
            <a:ext cx="3977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66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校园教学评价与模拟投资激励平台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1908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E665E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1908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E665E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2A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D2A24"/>
          </a:solidFill>
          <a:ln w="12700">
            <a:solidFill>
              <a:srgbClr val="1D2A2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772400" y="-1005840"/>
            <a:ext cx="5303520" cy="5303520"/>
          </a:xfrm>
          <a:prstGeom prst="arc">
            <a:avLst/>
          </a:prstGeom>
          <a:noFill/>
          <a:ln w="38100">
            <a:solidFill>
              <a:srgbClr val="E05A33">
                <a:alpha val="8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49640" y="-228600"/>
            <a:ext cx="3886200" cy="3886200"/>
          </a:xfrm>
          <a:prstGeom prst="arc">
            <a:avLst/>
          </a:prstGeom>
          <a:noFill/>
          <a:ln w="19050">
            <a:solidFill>
              <a:srgbClr val="D9B44A">
                <a:alpha val="8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73152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C4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PROJECT PROPOSAL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21792" y="123444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7F5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学林街之狼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658368" y="2084832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DCE5D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校园教学评价与模拟投资激励平台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58368" y="2816352"/>
            <a:ext cx="1965960" cy="0"/>
          </a:xfrm>
          <a:prstGeom prst="line">
            <a:avLst/>
          </a:prstGeom>
          <a:noFill/>
          <a:ln w="25400">
            <a:solidFill>
              <a:srgbClr val="E05A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30632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DCE5D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项目立项答辩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58368" y="5230368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BFCBB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五人协作开发 | 前端原型项目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58368" y="55961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BFCBB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年 9 月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1908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E665E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29768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E05A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/ BACKGROUND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94360" y="694944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924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项目背景与痛点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12648" y="129844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6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让课程反馈从分散、滞后的信息，变成可理解、可参与的校园体验。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3493008" cy="3520440"/>
          </a:xfrm>
          <a:prstGeom prst="roundRect">
            <a:avLst>
              <a:gd name="adj" fmla="val 1571"/>
            </a:avLst>
          </a:prstGeom>
          <a:solidFill>
            <a:srgbClr val="FFFFFF"/>
          </a:solidFill>
          <a:ln w="8890">
            <a:solidFill>
              <a:srgbClr val="D7D0C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874520"/>
            <a:ext cx="73152" cy="3520440"/>
          </a:xfrm>
          <a:prstGeom prst="rect">
            <a:avLst/>
          </a:prstGeom>
          <a:solidFill>
            <a:srgbClr val="E05A33"/>
          </a:solidFill>
          <a:ln w="12700">
            <a:solidFill>
              <a:srgbClr val="E05A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2103120"/>
            <a:ext cx="3035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924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学生侧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96112" y="2496312"/>
            <a:ext cx="301752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20" dirty="0">
                <a:solidFill>
                  <a:srgbClr val="5E66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选课信息与学习反馈分散</a:t>
            </a:r>
            <a:endParaRPr lang="en-US" sz="1120" dirty="0"/>
          </a:p>
          <a:p>
            <a:pPr marL="152400" indent="-152400">
              <a:buSzPct val="100000"/>
              <a:buChar char="•"/>
            </a:pPr>
            <a:r>
              <a:rPr lang="en-US" sz="1120" dirty="0">
                <a:solidFill>
                  <a:srgbClr val="5E66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难以快速理解课程特点</a:t>
            </a:r>
            <a:endParaRPr lang="en-US" sz="1120" dirty="0"/>
          </a:p>
          <a:p>
            <a:pPr marL="152400" indent="-152400">
              <a:buSzPct val="100000"/>
              <a:buChar char="•"/>
            </a:pPr>
            <a:r>
              <a:rPr lang="en-US" sz="1120" dirty="0">
                <a:solidFill>
                  <a:srgbClr val="5E66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参与评价的动力不足</a:t>
            </a:r>
            <a:endParaRPr lang="en-US" sz="1120" dirty="0"/>
          </a:p>
        </p:txBody>
      </p:sp>
      <p:sp>
        <p:nvSpPr>
          <p:cNvPr id="9" name="Shape 7"/>
          <p:cNvSpPr/>
          <p:nvPr/>
        </p:nvSpPr>
        <p:spPr>
          <a:xfrm>
            <a:off x="4352544" y="1874520"/>
            <a:ext cx="3493008" cy="3520440"/>
          </a:xfrm>
          <a:prstGeom prst="roundRect">
            <a:avLst>
              <a:gd name="adj" fmla="val 1571"/>
            </a:avLst>
          </a:prstGeom>
          <a:solidFill>
            <a:srgbClr val="FFFFFF"/>
          </a:solidFill>
          <a:ln w="8890">
            <a:solidFill>
              <a:srgbClr val="D7D0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52544" y="1874520"/>
            <a:ext cx="73152" cy="3520440"/>
          </a:xfrm>
          <a:prstGeom prst="rect">
            <a:avLst/>
          </a:prstGeom>
          <a:solidFill>
            <a:srgbClr val="1D6B57"/>
          </a:solidFill>
          <a:ln w="12700">
            <a:solidFill>
              <a:srgbClr val="1D6B5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08576" y="2103120"/>
            <a:ext cx="3035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924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教师与管理侧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608576" y="2496312"/>
            <a:ext cx="301752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20" dirty="0">
                <a:solidFill>
                  <a:srgbClr val="5E66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评价反馈难以直观汇总</a:t>
            </a:r>
            <a:endParaRPr lang="en-US" sz="1120" dirty="0"/>
          </a:p>
          <a:p>
            <a:pPr marL="152400" indent="-152400">
              <a:buSzPct val="100000"/>
              <a:buChar char="•"/>
            </a:pPr>
            <a:r>
              <a:rPr lang="en-US" sz="1120" dirty="0">
                <a:solidFill>
                  <a:srgbClr val="5E66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缺少审核和处理入口</a:t>
            </a:r>
            <a:endParaRPr lang="en-US" sz="1120" dirty="0"/>
          </a:p>
          <a:p>
            <a:pPr marL="152400" indent="-152400">
              <a:buSzPct val="100000"/>
              <a:buChar char="•"/>
            </a:pPr>
            <a:r>
              <a:rPr lang="en-US" sz="1120" dirty="0">
                <a:solidFill>
                  <a:srgbClr val="5E66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教学趋势不易追踪</a:t>
            </a:r>
            <a:endParaRPr lang="en-US" sz="1120" dirty="0"/>
          </a:p>
        </p:txBody>
      </p:sp>
      <p:sp>
        <p:nvSpPr>
          <p:cNvPr id="13" name="Shape 11"/>
          <p:cNvSpPr/>
          <p:nvPr/>
        </p:nvSpPr>
        <p:spPr>
          <a:xfrm>
            <a:off x="8065008" y="1874520"/>
            <a:ext cx="3493008" cy="3520440"/>
          </a:xfrm>
          <a:prstGeom prst="roundRect">
            <a:avLst>
              <a:gd name="adj" fmla="val 1571"/>
            </a:avLst>
          </a:prstGeom>
          <a:solidFill>
            <a:srgbClr val="FFFFFF"/>
          </a:solidFill>
          <a:ln w="8890">
            <a:solidFill>
              <a:srgbClr val="D7D0C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65008" y="1874520"/>
            <a:ext cx="73152" cy="3520440"/>
          </a:xfrm>
          <a:prstGeom prst="rect">
            <a:avLst/>
          </a:prstGeom>
          <a:solidFill>
            <a:srgbClr val="D9A441"/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21040" y="2103120"/>
            <a:ext cx="3035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924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项目切入点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321040" y="2496312"/>
            <a:ext cx="301752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20" dirty="0">
                <a:solidFill>
                  <a:srgbClr val="5E66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行情看板式信息组织</a:t>
            </a:r>
            <a:endParaRPr lang="en-US" sz="1120" dirty="0"/>
          </a:p>
          <a:p>
            <a:pPr marL="152400" indent="-152400">
              <a:buSzPct val="100000"/>
              <a:buChar char="•"/>
            </a:pPr>
            <a:r>
              <a:rPr lang="en-US" sz="1120" dirty="0">
                <a:solidFill>
                  <a:srgbClr val="5E66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任务与积分激励参与</a:t>
            </a:r>
            <a:endParaRPr lang="en-US" sz="1120" dirty="0"/>
          </a:p>
          <a:p>
            <a:pPr marL="152400" indent="-152400">
              <a:buSzPct val="100000"/>
              <a:buChar char="•"/>
            </a:pPr>
            <a:r>
              <a:rPr lang="en-US" sz="1120" dirty="0">
                <a:solidFill>
                  <a:srgbClr val="5E66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可视化展示评价变化</a:t>
            </a:r>
            <a:endParaRPr lang="en-US" sz="11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1908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E665E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29768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E05A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/ VISION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94360" y="694944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924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项目定位与目标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12648" y="129844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6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以虚拟积分和模拟数据构建教学互动原型，不提供真实金融服务。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4800600" cy="3520440"/>
          </a:xfrm>
          <a:prstGeom prst="roundRect">
            <a:avLst>
              <a:gd name="adj" fmla="val 1558"/>
            </a:avLst>
          </a:prstGeom>
          <a:solidFill>
            <a:srgbClr val="21352C"/>
          </a:solidFill>
          <a:ln w="12700">
            <a:solidFill>
              <a:srgbClr val="21352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304288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F7F5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“评价可看见，参与有反馈”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960120" y="324612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DCE5D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将课程评价、任务成长和模拟资产统一到一个可视化平台。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742432" y="1874520"/>
            <a:ext cx="1828800" cy="35204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8890">
            <a:solidFill>
              <a:srgbClr val="D7D0C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742432" y="1874520"/>
            <a:ext cx="73152" cy="3520440"/>
          </a:xfrm>
          <a:prstGeom prst="rect">
            <a:avLst/>
          </a:prstGeom>
          <a:solidFill>
            <a:srgbClr val="E05A33"/>
          </a:solidFill>
          <a:ln w="12700">
            <a:solidFill>
              <a:srgbClr val="E05A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98464" y="210312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924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目标一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998464" y="2496312"/>
            <a:ext cx="1353312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20" dirty="0">
                <a:solidFill>
                  <a:srgbClr val="5E66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覆盖核心校园互动场景</a:t>
            </a:r>
            <a:endParaRPr lang="en-US" sz="1120" dirty="0"/>
          </a:p>
          <a:p>
            <a:pPr marL="152400" indent="-152400">
              <a:buSzPct val="100000"/>
              <a:buChar char="•"/>
            </a:pPr>
            <a:r>
              <a:rPr lang="en-US" sz="1120" dirty="0">
                <a:solidFill>
                  <a:srgbClr val="5E66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完成可演示原型</a:t>
            </a:r>
            <a:endParaRPr lang="en-US" sz="1120" dirty="0"/>
          </a:p>
        </p:txBody>
      </p:sp>
      <p:sp>
        <p:nvSpPr>
          <p:cNvPr id="12" name="Shape 10"/>
          <p:cNvSpPr/>
          <p:nvPr/>
        </p:nvSpPr>
        <p:spPr>
          <a:xfrm>
            <a:off x="7772400" y="1874520"/>
            <a:ext cx="1828800" cy="35204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8890">
            <a:solidFill>
              <a:srgbClr val="D7D0C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0" y="1874520"/>
            <a:ext cx="73152" cy="3520440"/>
          </a:xfrm>
          <a:prstGeom prst="rect">
            <a:avLst/>
          </a:prstGeom>
          <a:solidFill>
            <a:srgbClr val="1D6B57"/>
          </a:solidFill>
          <a:ln w="12700">
            <a:solidFill>
              <a:srgbClr val="1D6B5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28432" y="210312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924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目标二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028432" y="2496312"/>
            <a:ext cx="1353312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20" dirty="0">
                <a:solidFill>
                  <a:srgbClr val="5E66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统一状态与数据模型</a:t>
            </a:r>
            <a:endParaRPr lang="en-US" sz="1120" dirty="0"/>
          </a:p>
          <a:p>
            <a:pPr marL="152400" indent="-152400">
              <a:buSzPct val="100000"/>
              <a:buChar char="•"/>
            </a:pPr>
            <a:r>
              <a:rPr lang="en-US" sz="1120" dirty="0">
                <a:solidFill>
                  <a:srgbClr val="5E66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实现模块数据联动</a:t>
            </a:r>
            <a:endParaRPr lang="en-US" sz="1120" dirty="0"/>
          </a:p>
        </p:txBody>
      </p:sp>
      <p:sp>
        <p:nvSpPr>
          <p:cNvPr id="16" name="Shape 14"/>
          <p:cNvSpPr/>
          <p:nvPr/>
        </p:nvSpPr>
        <p:spPr>
          <a:xfrm>
            <a:off x="9802368" y="1874520"/>
            <a:ext cx="1828800" cy="35204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8890">
            <a:solidFill>
              <a:srgbClr val="D7D0C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802368" y="1874520"/>
            <a:ext cx="73152" cy="3520440"/>
          </a:xfrm>
          <a:prstGeom prst="rect">
            <a:avLst/>
          </a:prstGeom>
          <a:solidFill>
            <a:srgbClr val="D9A441"/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0" y="210312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924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目标三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058400" y="2496312"/>
            <a:ext cx="1353312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20" dirty="0">
                <a:solidFill>
                  <a:srgbClr val="5E66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预留 API 与权限边界</a:t>
            </a:r>
            <a:endParaRPr lang="en-US" sz="1120" dirty="0"/>
          </a:p>
          <a:p>
            <a:pPr marL="152400" indent="-152400">
              <a:buSzPct val="100000"/>
              <a:buChar char="•"/>
            </a:pPr>
            <a:r>
              <a:rPr lang="en-US" sz="1120" dirty="0">
                <a:solidFill>
                  <a:srgbClr val="5E66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支持持续迭代</a:t>
            </a:r>
            <a:endParaRPr lang="en-US" sz="11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1908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E665E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29768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E05A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/ SCOPE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94360" y="694944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924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核心功能范围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12648" y="129844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6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围绕“浏览 - 参与 - 激励 - 管理”构建完整原型闭环。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58952" y="1920240"/>
            <a:ext cx="310896" cy="310896"/>
          </a:xfrm>
          <a:prstGeom prst="ellipse">
            <a:avLst/>
          </a:prstGeom>
          <a:solidFill>
            <a:srgbClr val="E05A33"/>
          </a:solidFill>
          <a:ln w="12700">
            <a:solidFill>
              <a:srgbClr val="E05A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58952" y="1947672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261872" y="1810512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924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行情与详情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703320" y="1847088"/>
            <a:ext cx="7223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E66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课程标的、评分、热度、K 线与评教趋势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261872" y="2377440"/>
            <a:ext cx="9646920" cy="0"/>
          </a:xfrm>
          <a:prstGeom prst="line">
            <a:avLst/>
          </a:prstGeom>
          <a:noFill/>
          <a:ln w="7620">
            <a:solidFill>
              <a:srgbClr val="D7D0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58952" y="2724912"/>
            <a:ext cx="310896" cy="310896"/>
          </a:xfrm>
          <a:prstGeom prst="ellipse">
            <a:avLst/>
          </a:prstGeom>
          <a:solidFill>
            <a:srgbClr val="1D6B57"/>
          </a:solidFill>
          <a:ln w="12700">
            <a:solidFill>
              <a:srgbClr val="1D6B5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58952" y="2752344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1261872" y="2615184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924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模拟交易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703320" y="2651760"/>
            <a:ext cx="7223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E66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买卖、持仓、手续费、仓位上限与 T+1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261872" y="3182112"/>
            <a:ext cx="9646920" cy="0"/>
          </a:xfrm>
          <a:prstGeom prst="line">
            <a:avLst/>
          </a:prstGeom>
          <a:noFill/>
          <a:ln w="7620">
            <a:solidFill>
              <a:srgbClr val="D7D0C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58952" y="3529584"/>
            <a:ext cx="310896" cy="310896"/>
          </a:xfrm>
          <a:prstGeom prst="ellipse">
            <a:avLst/>
          </a:prstGeom>
          <a:solidFill>
            <a:srgbClr val="E05A33"/>
          </a:solidFill>
          <a:ln w="12700">
            <a:solidFill>
              <a:srgbClr val="E05A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58952" y="3557016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1261872" y="3419856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924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评价与任务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703320" y="3456432"/>
            <a:ext cx="7223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E66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签到、匿名评教、审核状态、奖励发放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261872" y="3986784"/>
            <a:ext cx="9646920" cy="0"/>
          </a:xfrm>
          <a:prstGeom prst="line">
            <a:avLst/>
          </a:prstGeom>
          <a:noFill/>
          <a:ln w="7620">
            <a:solidFill>
              <a:srgbClr val="D7D0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8952" y="4334256"/>
            <a:ext cx="310896" cy="310896"/>
          </a:xfrm>
          <a:prstGeom prst="ellipse">
            <a:avLst/>
          </a:prstGeom>
          <a:solidFill>
            <a:srgbClr val="1D6B57"/>
          </a:solidFill>
          <a:ln w="12700">
            <a:solidFill>
              <a:srgbClr val="1D6B5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58952" y="4361688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261872" y="4224528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924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排行榜与个人中心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703320" y="4261104"/>
            <a:ext cx="7223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E66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资产、权益、称号与参与成果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261872" y="4791456"/>
            <a:ext cx="9646920" cy="0"/>
          </a:xfrm>
          <a:prstGeom prst="line">
            <a:avLst/>
          </a:prstGeom>
          <a:noFill/>
          <a:ln w="7620">
            <a:solidFill>
              <a:srgbClr val="D7D0C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58952" y="5138928"/>
            <a:ext cx="310896" cy="310896"/>
          </a:xfrm>
          <a:prstGeom prst="ellipse">
            <a:avLst/>
          </a:prstGeom>
          <a:solidFill>
            <a:srgbClr val="E05A33"/>
          </a:solidFill>
          <a:ln w="12700">
            <a:solidFill>
              <a:srgbClr val="E05A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58952" y="5166360"/>
            <a:ext cx="310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261872" y="502920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924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管理端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3703320" y="5065776"/>
            <a:ext cx="7223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E66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宏观因子、评教审核、收盘结算模拟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1261872" y="5596128"/>
            <a:ext cx="9646920" cy="0"/>
          </a:xfrm>
          <a:prstGeom prst="line">
            <a:avLst/>
          </a:prstGeom>
          <a:noFill/>
          <a:ln w="7620">
            <a:solidFill>
              <a:srgbClr val="D7D0C4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1908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E665E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29768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E05A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/ ARCHITECTURE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94360" y="694944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924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技术方案与系统架构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12648" y="129844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6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组件化页面、集中状态管理和 Mock 数据源，兼顾快速验证与后续扩展。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640080" y="2514600"/>
            <a:ext cx="1600200" cy="1207008"/>
          </a:xfrm>
          <a:prstGeom prst="roundRect">
            <a:avLst>
              <a:gd name="adj" fmla="val 3788"/>
            </a:avLst>
          </a:prstGeom>
          <a:solidFill>
            <a:srgbClr val="FFFFFF"/>
          </a:solidFill>
          <a:ln w="13970">
            <a:solidFill>
              <a:srgbClr val="E05A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58952" y="2752344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1924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用户角色</a:t>
            </a:r>
            <a:endParaRPr lang="en-US" sz="1220" dirty="0"/>
          </a:p>
        </p:txBody>
      </p:sp>
      <p:sp>
        <p:nvSpPr>
          <p:cNvPr id="7" name="Text 5"/>
          <p:cNvSpPr/>
          <p:nvPr/>
        </p:nvSpPr>
        <p:spPr>
          <a:xfrm>
            <a:off x="758952" y="315468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30" dirty="0">
                <a:solidFill>
                  <a:srgbClr val="5E66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学生 / 管理员</a:t>
            </a:r>
            <a:endParaRPr lang="en-US" sz="930" dirty="0"/>
          </a:p>
        </p:txBody>
      </p:sp>
      <p:sp>
        <p:nvSpPr>
          <p:cNvPr id="8" name="Shape 6"/>
          <p:cNvSpPr/>
          <p:nvPr/>
        </p:nvSpPr>
        <p:spPr>
          <a:xfrm>
            <a:off x="2971800" y="2514600"/>
            <a:ext cx="1600200" cy="1207008"/>
          </a:xfrm>
          <a:prstGeom prst="roundRect">
            <a:avLst>
              <a:gd name="adj" fmla="val 3788"/>
            </a:avLst>
          </a:prstGeom>
          <a:solidFill>
            <a:srgbClr val="FFFFFF"/>
          </a:solidFill>
          <a:ln w="13970">
            <a:solidFill>
              <a:srgbClr val="1D6B5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090672" y="2752344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1924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Vue 页面</a:t>
            </a:r>
            <a:endParaRPr lang="en-US" sz="1220" dirty="0"/>
          </a:p>
        </p:txBody>
      </p:sp>
      <p:sp>
        <p:nvSpPr>
          <p:cNvPr id="10" name="Text 8"/>
          <p:cNvSpPr/>
          <p:nvPr/>
        </p:nvSpPr>
        <p:spPr>
          <a:xfrm>
            <a:off x="3090672" y="315468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30" dirty="0">
                <a:solidFill>
                  <a:srgbClr val="5E66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views + router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5303520" y="2514600"/>
            <a:ext cx="1600200" cy="1207008"/>
          </a:xfrm>
          <a:prstGeom prst="roundRect">
            <a:avLst>
              <a:gd name="adj" fmla="val 3788"/>
            </a:avLst>
          </a:prstGeom>
          <a:solidFill>
            <a:srgbClr val="FFFFFF"/>
          </a:solidFill>
          <a:ln w="13970">
            <a:solidFill>
              <a:srgbClr val="D9A44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22392" y="2752344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1924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业务状态</a:t>
            </a:r>
            <a:endParaRPr lang="en-US" sz="1220" dirty="0"/>
          </a:p>
        </p:txBody>
      </p:sp>
      <p:sp>
        <p:nvSpPr>
          <p:cNvPr id="13" name="Text 11"/>
          <p:cNvSpPr/>
          <p:nvPr/>
        </p:nvSpPr>
        <p:spPr>
          <a:xfrm>
            <a:off x="5422392" y="315468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30" dirty="0">
                <a:solidFill>
                  <a:srgbClr val="5E66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Pinia stores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635240" y="2514600"/>
            <a:ext cx="1600200" cy="1207008"/>
          </a:xfrm>
          <a:prstGeom prst="roundRect">
            <a:avLst>
              <a:gd name="adj" fmla="val 3788"/>
            </a:avLst>
          </a:prstGeom>
          <a:solidFill>
            <a:srgbClr val="FFFFFF"/>
          </a:solidFill>
          <a:ln w="13970">
            <a:solidFill>
              <a:srgbClr val="E05A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54112" y="2752344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1924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数据模型</a:t>
            </a:r>
            <a:endParaRPr lang="en-US" sz="1220" dirty="0"/>
          </a:p>
        </p:txBody>
      </p:sp>
      <p:sp>
        <p:nvSpPr>
          <p:cNvPr id="16" name="Text 14"/>
          <p:cNvSpPr/>
          <p:nvPr/>
        </p:nvSpPr>
        <p:spPr>
          <a:xfrm>
            <a:off x="7754112" y="315468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30" dirty="0">
                <a:solidFill>
                  <a:srgbClr val="5E66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types + mock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9966960" y="2514600"/>
            <a:ext cx="1600200" cy="1207008"/>
          </a:xfrm>
          <a:prstGeom prst="roundRect">
            <a:avLst>
              <a:gd name="adj" fmla="val 3788"/>
            </a:avLst>
          </a:prstGeom>
          <a:solidFill>
            <a:srgbClr val="FFFFFF"/>
          </a:solidFill>
          <a:ln w="13970">
            <a:solidFill>
              <a:srgbClr val="1D6B5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85832" y="2752344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1924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后续扩展</a:t>
            </a:r>
            <a:endParaRPr lang="en-US" sz="1220" dirty="0"/>
          </a:p>
        </p:txBody>
      </p:sp>
      <p:sp>
        <p:nvSpPr>
          <p:cNvPr id="19" name="Text 17"/>
          <p:cNvSpPr/>
          <p:nvPr/>
        </p:nvSpPr>
        <p:spPr>
          <a:xfrm>
            <a:off x="10085832" y="315468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30" dirty="0">
                <a:solidFill>
                  <a:srgbClr val="5E66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API / 权限 / 数据库</a:t>
            </a:r>
            <a:endParaRPr lang="en-US" sz="930" dirty="0"/>
          </a:p>
        </p:txBody>
      </p:sp>
      <p:sp>
        <p:nvSpPr>
          <p:cNvPr id="20" name="Shape 18"/>
          <p:cNvSpPr/>
          <p:nvPr/>
        </p:nvSpPr>
        <p:spPr>
          <a:xfrm>
            <a:off x="2404872" y="2944368"/>
            <a:ext cx="347472" cy="320040"/>
          </a:xfrm>
          <a:prstGeom prst="chevron">
            <a:avLst/>
          </a:prstGeom>
          <a:solidFill>
            <a:srgbClr val="D7D0C4"/>
          </a:solidFill>
          <a:ln w="12700">
            <a:solidFill>
              <a:srgbClr val="D7D0C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36592" y="2944368"/>
            <a:ext cx="347472" cy="320040"/>
          </a:xfrm>
          <a:prstGeom prst="chevron">
            <a:avLst/>
          </a:prstGeom>
          <a:solidFill>
            <a:srgbClr val="D7D0C4"/>
          </a:solidFill>
          <a:ln w="12700">
            <a:solidFill>
              <a:srgbClr val="D7D0C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068312" y="2944368"/>
            <a:ext cx="347472" cy="320040"/>
          </a:xfrm>
          <a:prstGeom prst="chevron">
            <a:avLst/>
          </a:prstGeom>
          <a:solidFill>
            <a:srgbClr val="D7D0C4"/>
          </a:solidFill>
          <a:ln w="12700">
            <a:solidFill>
              <a:srgbClr val="D7D0C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400032" y="2944368"/>
            <a:ext cx="347472" cy="320040"/>
          </a:xfrm>
          <a:prstGeom prst="chevron">
            <a:avLst/>
          </a:prstGeom>
          <a:solidFill>
            <a:srgbClr val="D7D0C4"/>
          </a:solidFill>
          <a:ln w="12700">
            <a:solidFill>
              <a:srgbClr val="D7D0C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234440" y="4754880"/>
            <a:ext cx="978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E66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前端原型阶段：业务数据由 Pinia store 统一管理，刷新后恢复初始 Mock 数据。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1908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E665E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29768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E05A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/ EXPERIENCE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94360" y="694944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924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用户流程设计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12648" y="129844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6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学生完成从发现课程到评价反馈的闭环，管理员保障内容质量。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621792" y="2148840"/>
            <a:ext cx="1755648" cy="1463040"/>
          </a:xfrm>
          <a:prstGeom prst="roundRect">
            <a:avLst>
              <a:gd name="adj" fmla="val 3125"/>
            </a:avLst>
          </a:prstGeom>
          <a:solidFill>
            <a:srgbClr val="FDE9E2"/>
          </a:solidFill>
          <a:ln w="12700">
            <a:solidFill>
              <a:srgbClr val="F0B5A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2395728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E05A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6384" y="2743200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924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浏览行情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86384" y="3145536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5E66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发现课程与热度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468880" y="2715768"/>
            <a:ext cx="256032" cy="292608"/>
          </a:xfrm>
          <a:prstGeom prst="chevron">
            <a:avLst/>
          </a:prstGeom>
          <a:solidFill>
            <a:srgbClr val="D7D0C4"/>
          </a:solidFill>
          <a:ln w="12700">
            <a:solidFill>
              <a:srgbClr val="D7D0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35224" y="2148840"/>
            <a:ext cx="1755648" cy="1463040"/>
          </a:xfrm>
          <a:prstGeom prst="roundRect">
            <a:avLst>
              <a:gd name="adj" fmla="val 3125"/>
            </a:avLst>
          </a:prstGeom>
          <a:solidFill>
            <a:srgbClr val="E5EEE8"/>
          </a:solidFill>
          <a:ln w="12700">
            <a:solidFill>
              <a:srgbClr val="B8D0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099816" y="2395728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D6B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99816" y="2743200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924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查看详情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099816" y="3145536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5E66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了解评分与趋势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782312" y="2715768"/>
            <a:ext cx="256032" cy="292608"/>
          </a:xfrm>
          <a:prstGeom prst="chevron">
            <a:avLst/>
          </a:prstGeom>
          <a:solidFill>
            <a:srgbClr val="D7D0C4"/>
          </a:solidFill>
          <a:ln w="12700">
            <a:solidFill>
              <a:srgbClr val="D7D0C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48656" y="2148840"/>
            <a:ext cx="1755648" cy="1463040"/>
          </a:xfrm>
          <a:prstGeom prst="roundRect">
            <a:avLst>
              <a:gd name="adj" fmla="val 3125"/>
            </a:avLst>
          </a:prstGeom>
          <a:solidFill>
            <a:srgbClr val="FDE9E2"/>
          </a:solidFill>
          <a:ln w="12700">
            <a:solidFill>
              <a:srgbClr val="F0B5A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13248" y="2395728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E05A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13248" y="2743200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924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模拟交易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413248" y="3145536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5E66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形成虚拟持仓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095744" y="2715768"/>
            <a:ext cx="256032" cy="292608"/>
          </a:xfrm>
          <a:prstGeom prst="chevron">
            <a:avLst/>
          </a:prstGeom>
          <a:solidFill>
            <a:srgbClr val="D7D0C4"/>
          </a:solidFill>
          <a:ln w="12700">
            <a:solidFill>
              <a:srgbClr val="D7D0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62088" y="2148840"/>
            <a:ext cx="1755648" cy="1463040"/>
          </a:xfrm>
          <a:prstGeom prst="roundRect">
            <a:avLst>
              <a:gd name="adj" fmla="val 3125"/>
            </a:avLst>
          </a:prstGeom>
          <a:solidFill>
            <a:srgbClr val="E5EEE8"/>
          </a:solidFill>
          <a:ln w="12700">
            <a:solidFill>
              <a:srgbClr val="B8D0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26680" y="2395728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D6B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726680" y="2743200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924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签到评教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726680" y="3145536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5E66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提交匿名反馈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9409176" y="2715768"/>
            <a:ext cx="256032" cy="292608"/>
          </a:xfrm>
          <a:prstGeom prst="chevron">
            <a:avLst/>
          </a:prstGeom>
          <a:solidFill>
            <a:srgbClr val="D7D0C4"/>
          </a:solidFill>
          <a:ln w="12700">
            <a:solidFill>
              <a:srgbClr val="D7D0C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875520" y="2148840"/>
            <a:ext cx="1755648" cy="1463040"/>
          </a:xfrm>
          <a:prstGeom prst="roundRect">
            <a:avLst>
              <a:gd name="adj" fmla="val 3125"/>
            </a:avLst>
          </a:prstGeom>
          <a:solidFill>
            <a:srgbClr val="FDE9E2"/>
          </a:solidFill>
          <a:ln w="12700">
            <a:solidFill>
              <a:srgbClr val="F0B5A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040112" y="2395728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E05A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0040112" y="2743200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924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领取奖励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0040112" y="3145536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5E66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完成任务成长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148840" y="4389120"/>
            <a:ext cx="790956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8890">
            <a:solidFill>
              <a:srgbClr val="D7D0C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148840" y="4389120"/>
            <a:ext cx="73152" cy="868680"/>
          </a:xfrm>
          <a:prstGeom prst="rect">
            <a:avLst/>
          </a:prstGeom>
          <a:solidFill>
            <a:srgbClr val="1D6B57"/>
          </a:solidFill>
          <a:ln w="12700">
            <a:solidFill>
              <a:srgbClr val="1D6B5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404872" y="4617720"/>
            <a:ext cx="7452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924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管理闭环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2404872" y="5010912"/>
            <a:ext cx="7434072" cy="45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20" dirty="0">
                <a:solidFill>
                  <a:srgbClr val="5E66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管理员审核评价、处理异常内容，并通过模拟结算展示数据变化。</a:t>
            </a:r>
            <a:endParaRPr lang="en-US" sz="11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1908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E665E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29768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E05A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/ TEAM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94360" y="694944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924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团队分工与协作机制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12648" y="129844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6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按页面和业务状态边界分工，用 Git 分支与 Pull Request 进行协作。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3429000" cy="118872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8890">
            <a:solidFill>
              <a:srgbClr val="D7D0C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96112" y="2167128"/>
            <a:ext cx="621792" cy="621792"/>
          </a:xfrm>
          <a:prstGeom prst="ellipse">
            <a:avLst/>
          </a:prstGeom>
          <a:solidFill>
            <a:srgbClr val="E05A33"/>
          </a:solidFill>
          <a:ln w="12700">
            <a:solidFill>
              <a:srgbClr val="E05A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2359152"/>
            <a:ext cx="6217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719072" y="2011680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924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钟森翔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719072" y="2295144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D6B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行情与标的详情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719072" y="2633472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5E66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Market / StockDetail / KLine</a:t>
            </a:r>
            <a:endParaRPr lang="en-US" sz="810" dirty="0"/>
          </a:p>
        </p:txBody>
      </p:sp>
      <p:sp>
        <p:nvSpPr>
          <p:cNvPr id="11" name="Shape 9"/>
          <p:cNvSpPr/>
          <p:nvPr/>
        </p:nvSpPr>
        <p:spPr>
          <a:xfrm>
            <a:off x="4379976" y="1828800"/>
            <a:ext cx="3429000" cy="118872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8890">
            <a:solidFill>
              <a:srgbClr val="D7D0C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36008" y="2167128"/>
            <a:ext cx="621792" cy="621792"/>
          </a:xfrm>
          <a:prstGeom prst="ellipse">
            <a:avLst/>
          </a:prstGeom>
          <a:solidFill>
            <a:srgbClr val="1D6B57"/>
          </a:solidFill>
          <a:ln w="12700">
            <a:solidFill>
              <a:srgbClr val="1D6B5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36008" y="2359152"/>
            <a:ext cx="6217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458968" y="2011680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924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周金淼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58968" y="2295144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D6B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模拟交易与个人资产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58968" y="2633472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5E66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Trade / Profile / trade store</a:t>
            </a:r>
            <a:endParaRPr lang="en-US" sz="810" dirty="0"/>
          </a:p>
        </p:txBody>
      </p:sp>
      <p:sp>
        <p:nvSpPr>
          <p:cNvPr id="17" name="Shape 15"/>
          <p:cNvSpPr/>
          <p:nvPr/>
        </p:nvSpPr>
        <p:spPr>
          <a:xfrm>
            <a:off x="8119872" y="1828800"/>
            <a:ext cx="3429000" cy="118872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8890">
            <a:solidFill>
              <a:srgbClr val="D7D0C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375904" y="2167128"/>
            <a:ext cx="621792" cy="621792"/>
          </a:xfrm>
          <a:prstGeom prst="ellipse">
            <a:avLst/>
          </a:prstGeom>
          <a:solidFill>
            <a:srgbClr val="E05A33"/>
          </a:solidFill>
          <a:ln w="12700">
            <a:solidFill>
              <a:srgbClr val="E05A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75904" y="2359152"/>
            <a:ext cx="6217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198864" y="2011680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924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张善言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198864" y="2295144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D6B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评教与任务激励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9198864" y="2633472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5E66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Evaluation / Task / Trend</a:t>
            </a:r>
            <a:endParaRPr lang="en-US" sz="810" dirty="0"/>
          </a:p>
        </p:txBody>
      </p:sp>
      <p:sp>
        <p:nvSpPr>
          <p:cNvPr id="23" name="Shape 21"/>
          <p:cNvSpPr/>
          <p:nvPr/>
        </p:nvSpPr>
        <p:spPr>
          <a:xfrm>
            <a:off x="2505456" y="3456432"/>
            <a:ext cx="3429000" cy="118872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8890">
            <a:solidFill>
              <a:srgbClr val="D7D0C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761488" y="3794760"/>
            <a:ext cx="621792" cy="621792"/>
          </a:xfrm>
          <a:prstGeom prst="ellipse">
            <a:avLst/>
          </a:prstGeom>
          <a:solidFill>
            <a:srgbClr val="1D6B57"/>
          </a:solidFill>
          <a:ln w="12700">
            <a:solidFill>
              <a:srgbClr val="1D6B5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61488" y="3986784"/>
            <a:ext cx="6217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584448" y="3639312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924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王溢诚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584448" y="3922776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D6B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排行榜与管理端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3584448" y="4261104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5E66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Ranking / Admin / ranking store</a:t>
            </a:r>
            <a:endParaRPr lang="en-US" sz="810" dirty="0"/>
          </a:p>
        </p:txBody>
      </p:sp>
      <p:sp>
        <p:nvSpPr>
          <p:cNvPr id="29" name="Shape 27"/>
          <p:cNvSpPr/>
          <p:nvPr/>
        </p:nvSpPr>
        <p:spPr>
          <a:xfrm>
            <a:off x="6245352" y="3456432"/>
            <a:ext cx="3429000" cy="118872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8890">
            <a:solidFill>
              <a:srgbClr val="D7D0C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01384" y="3794760"/>
            <a:ext cx="621792" cy="621792"/>
          </a:xfrm>
          <a:prstGeom prst="ellipse">
            <a:avLst/>
          </a:prstGeom>
          <a:solidFill>
            <a:srgbClr val="E05A33"/>
          </a:solidFill>
          <a:ln w="12700">
            <a:solidFill>
              <a:srgbClr val="E05A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01384" y="3986784"/>
            <a:ext cx="6217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324344" y="3639312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924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张宏瑜（组长）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324344" y="3922776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D6B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统筹、文档与集成验收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324344" y="4261104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10" dirty="0">
                <a:solidFill>
                  <a:srgbClr val="5E66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Navbar / Router / Types / QA</a:t>
            </a:r>
            <a:endParaRPr lang="en-US" sz="810" dirty="0"/>
          </a:p>
        </p:txBody>
      </p:sp>
      <p:sp>
        <p:nvSpPr>
          <p:cNvPr id="35" name="Text 33"/>
          <p:cNvSpPr/>
          <p:nvPr/>
        </p:nvSpPr>
        <p:spPr>
          <a:xfrm>
            <a:off x="914400" y="5230368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5E66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协作规则：功能分支开发 -&gt; 构建验证 -&gt; Pull Request -&gt; 至少一人审查 -&gt; 合并 main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1908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E665E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29768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E05A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/ PLAN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94360" y="694944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924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实施计划与阶段交付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12648" y="129844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6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建议周期为 6 周，每周都有清晰的可检查成果。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960120" y="3218688"/>
            <a:ext cx="10222992" cy="0"/>
          </a:xfrm>
          <a:prstGeom prst="line">
            <a:avLst/>
          </a:prstGeom>
          <a:noFill/>
          <a:ln w="25400">
            <a:solidFill>
              <a:srgbClr val="D7D0C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16736" y="2898648"/>
            <a:ext cx="640080" cy="640080"/>
          </a:xfrm>
          <a:prstGeom prst="ellipse">
            <a:avLst/>
          </a:prstGeom>
          <a:solidFill>
            <a:srgbClr val="E05A33"/>
          </a:solidFill>
          <a:ln w="12700">
            <a:solidFill>
              <a:srgbClr val="E05A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316736" y="3099816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2029968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05A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周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8368" y="239572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924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需求与设计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58368" y="3822192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5E66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需求清单、页面结构、分工表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02736" y="2898648"/>
            <a:ext cx="640080" cy="640080"/>
          </a:xfrm>
          <a:prstGeom prst="ellipse">
            <a:avLst/>
          </a:prstGeom>
          <a:solidFill>
            <a:srgbClr val="1D6B57"/>
          </a:solidFill>
          <a:ln w="12700">
            <a:solidFill>
              <a:srgbClr val="1D6B5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02736" y="3099816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944368" y="2029968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6B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2-3 周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944368" y="239572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924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核心开发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944368" y="3822192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5E66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行情、交易、评价、任务流程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888736" y="2898648"/>
            <a:ext cx="640080" cy="640080"/>
          </a:xfrm>
          <a:prstGeom prst="ellipse">
            <a:avLst/>
          </a:prstGeom>
          <a:solidFill>
            <a:srgbClr val="E05A33"/>
          </a:solidFill>
          <a:ln w="12700">
            <a:solidFill>
              <a:srgbClr val="E05A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88736" y="3099816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230368" y="2029968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05A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4 周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230368" y="239572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924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管理与联调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230368" y="3822192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5E66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管理端、个人中心、全流程原型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174736" y="2898648"/>
            <a:ext cx="640080" cy="640080"/>
          </a:xfrm>
          <a:prstGeom prst="ellipse">
            <a:avLst/>
          </a:prstGeom>
          <a:solidFill>
            <a:srgbClr val="1D6B57"/>
          </a:solidFill>
          <a:ln w="12700">
            <a:solidFill>
              <a:srgbClr val="1D6B5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174736" y="3099816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516368" y="2029968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6B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5 周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516368" y="239572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924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测试与优化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516368" y="3822192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5E66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构建检查、规则测试、问题修复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10460736" y="2898648"/>
            <a:ext cx="640080" cy="640080"/>
          </a:xfrm>
          <a:prstGeom prst="ellipse">
            <a:avLst/>
          </a:prstGeom>
          <a:solidFill>
            <a:srgbClr val="E05A33"/>
          </a:solidFill>
          <a:ln w="12700">
            <a:solidFill>
              <a:srgbClr val="E05A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460736" y="3099816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9802368" y="2029968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05A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6 周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802368" y="239572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924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交付与答辩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802368" y="3822192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5E66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文档、PPT、演示脚本与项目包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1908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E665E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29768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E05A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 / GOVERNANCE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94360" y="694944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924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风险、隐私与伦理控制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12648" y="129844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6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将产品趣味性限制在教学场景内，把数据与评价治理作为前置条件。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3493008" cy="3337560"/>
          </a:xfrm>
          <a:prstGeom prst="roundRect">
            <a:avLst>
              <a:gd name="adj" fmla="val 1644"/>
            </a:avLst>
          </a:prstGeom>
          <a:solidFill>
            <a:srgbClr val="FFFFFF"/>
          </a:solidFill>
          <a:ln w="8890">
            <a:solidFill>
              <a:srgbClr val="D7D0C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874520"/>
            <a:ext cx="73152" cy="3337560"/>
          </a:xfrm>
          <a:prstGeom prst="rect">
            <a:avLst/>
          </a:prstGeom>
          <a:solidFill>
            <a:srgbClr val="1D6B57"/>
          </a:solidFill>
          <a:ln w="12700">
            <a:solidFill>
              <a:srgbClr val="1D6B5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2103120"/>
            <a:ext cx="3035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924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数据与隐私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96112" y="2496312"/>
            <a:ext cx="30175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20" dirty="0">
                <a:solidFill>
                  <a:srgbClr val="5E66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原型仅使用虚构数据</a:t>
            </a:r>
            <a:endParaRPr lang="en-US" sz="1120" dirty="0"/>
          </a:p>
          <a:p>
            <a:pPr marL="152400" indent="-152400">
              <a:buSzPct val="100000"/>
              <a:buChar char="•"/>
            </a:pPr>
            <a:r>
              <a:rPr lang="en-US" sz="1120" dirty="0">
                <a:solidFill>
                  <a:srgbClr val="5E66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后续遵循最小化采集原则</a:t>
            </a:r>
            <a:endParaRPr lang="en-US" sz="1120" dirty="0"/>
          </a:p>
          <a:p>
            <a:pPr marL="152400" indent="-152400">
              <a:buSzPct val="100000"/>
              <a:buChar char="•"/>
            </a:pPr>
            <a:r>
              <a:rPr lang="en-US" sz="1120" dirty="0">
                <a:solidFill>
                  <a:srgbClr val="5E66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真实数据须脱敏并取得授权</a:t>
            </a:r>
            <a:endParaRPr lang="en-US" sz="1120" dirty="0"/>
          </a:p>
        </p:txBody>
      </p:sp>
      <p:sp>
        <p:nvSpPr>
          <p:cNvPr id="9" name="Shape 7"/>
          <p:cNvSpPr/>
          <p:nvPr/>
        </p:nvSpPr>
        <p:spPr>
          <a:xfrm>
            <a:off x="4352544" y="1874520"/>
            <a:ext cx="3493008" cy="3337560"/>
          </a:xfrm>
          <a:prstGeom prst="roundRect">
            <a:avLst>
              <a:gd name="adj" fmla="val 1644"/>
            </a:avLst>
          </a:prstGeom>
          <a:solidFill>
            <a:srgbClr val="FFFFFF"/>
          </a:solidFill>
          <a:ln w="8890">
            <a:solidFill>
              <a:srgbClr val="D7D0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52544" y="1874520"/>
            <a:ext cx="73152" cy="3337560"/>
          </a:xfrm>
          <a:prstGeom prst="rect">
            <a:avLst/>
          </a:prstGeom>
          <a:solidFill>
            <a:srgbClr val="E05A33"/>
          </a:solidFill>
          <a:ln w="12700">
            <a:solidFill>
              <a:srgbClr val="E05A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08576" y="2103120"/>
            <a:ext cx="3035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924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评价治理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608576" y="2496312"/>
            <a:ext cx="30175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20" dirty="0">
                <a:solidFill>
                  <a:srgbClr val="5E66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支持审核、驳回和降权</a:t>
            </a:r>
            <a:endParaRPr lang="en-US" sz="1120" dirty="0"/>
          </a:p>
          <a:p>
            <a:pPr marL="152400" indent="-152400">
              <a:buSzPct val="100000"/>
              <a:buChar char="•"/>
            </a:pPr>
            <a:r>
              <a:rPr lang="en-US" sz="1120" dirty="0">
                <a:solidFill>
                  <a:srgbClr val="5E66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防范攻击性与失实内容</a:t>
            </a:r>
            <a:endParaRPr lang="en-US" sz="1120" dirty="0"/>
          </a:p>
          <a:p>
            <a:pPr marL="152400" indent="-152400">
              <a:buSzPct val="100000"/>
              <a:buChar char="•"/>
            </a:pPr>
            <a:r>
              <a:rPr lang="en-US" sz="1120" dirty="0">
                <a:solidFill>
                  <a:srgbClr val="5E66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避免评价结果被不当传播</a:t>
            </a:r>
            <a:endParaRPr lang="en-US" sz="1120" dirty="0"/>
          </a:p>
        </p:txBody>
      </p:sp>
      <p:sp>
        <p:nvSpPr>
          <p:cNvPr id="13" name="Shape 11"/>
          <p:cNvSpPr/>
          <p:nvPr/>
        </p:nvSpPr>
        <p:spPr>
          <a:xfrm>
            <a:off x="8065008" y="1874520"/>
            <a:ext cx="3493008" cy="3337560"/>
          </a:xfrm>
          <a:prstGeom prst="roundRect">
            <a:avLst>
              <a:gd name="adj" fmla="val 1644"/>
            </a:avLst>
          </a:prstGeom>
          <a:solidFill>
            <a:srgbClr val="FFFFFF"/>
          </a:solidFill>
          <a:ln w="8890">
            <a:solidFill>
              <a:srgbClr val="D7D0C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65008" y="1874520"/>
            <a:ext cx="73152" cy="3337560"/>
          </a:xfrm>
          <a:prstGeom prst="rect">
            <a:avLst/>
          </a:prstGeom>
          <a:solidFill>
            <a:srgbClr val="D9A441"/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21040" y="2103120"/>
            <a:ext cx="3035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924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合规边界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321040" y="2496312"/>
            <a:ext cx="30175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20" dirty="0">
                <a:solidFill>
                  <a:srgbClr val="5E66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虚拟积分不具备货币属性</a:t>
            </a:r>
            <a:endParaRPr lang="en-US" sz="1120" dirty="0"/>
          </a:p>
          <a:p>
            <a:pPr marL="152400" indent="-152400">
              <a:buSzPct val="100000"/>
              <a:buChar char="•"/>
            </a:pPr>
            <a:r>
              <a:rPr lang="en-US" sz="1120" dirty="0">
                <a:solidFill>
                  <a:srgbClr val="5E66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不涉及交易、支付或收益承诺</a:t>
            </a:r>
            <a:endParaRPr lang="en-US" sz="1120" dirty="0"/>
          </a:p>
          <a:p>
            <a:pPr marL="152400" indent="-152400">
              <a:buSzPct val="100000"/>
              <a:buChar char="•"/>
            </a:pPr>
            <a:r>
              <a:rPr lang="en-US" sz="1120" dirty="0">
                <a:solidFill>
                  <a:srgbClr val="5E66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不提供投资建议</a:t>
            </a:r>
            <a:endParaRPr lang="en-US" sz="11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1908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E665E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29768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E05A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 / ACCEPTANCE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94360" y="694944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924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验收标准与预期成果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12648" y="129844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E665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以“能运行、可演示、可协作、可迭代”为本期交付标准。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932688" y="1856232"/>
            <a:ext cx="265176" cy="265176"/>
          </a:xfrm>
          <a:prstGeom prst="ellipse">
            <a:avLst/>
          </a:prstGeom>
          <a:solidFill>
            <a:srgbClr val="1D6B57"/>
          </a:solidFill>
          <a:ln w="12700">
            <a:solidFill>
              <a:srgbClr val="1D6B5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1901952"/>
            <a:ext cx="2651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508760" y="1828800"/>
            <a:ext cx="7772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924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可完成依赖安装、开发启动和生产构建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932688" y="2496312"/>
            <a:ext cx="265176" cy="265176"/>
          </a:xfrm>
          <a:prstGeom prst="ellipse">
            <a:avLst/>
          </a:prstGeom>
          <a:solidFill>
            <a:srgbClr val="1D6B57"/>
          </a:solidFill>
          <a:ln w="12700">
            <a:solidFill>
              <a:srgbClr val="1D6B5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32688" y="2542032"/>
            <a:ext cx="2651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508760" y="2468880"/>
            <a:ext cx="7772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924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八类核心页面均可正常访问与演示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32688" y="3136392"/>
            <a:ext cx="265176" cy="265176"/>
          </a:xfrm>
          <a:prstGeom prst="ellipse">
            <a:avLst/>
          </a:prstGeom>
          <a:solidFill>
            <a:srgbClr val="1D6B57"/>
          </a:solidFill>
          <a:ln w="12700">
            <a:solidFill>
              <a:srgbClr val="1D6B5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32688" y="3182112"/>
            <a:ext cx="2651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508760" y="3108960"/>
            <a:ext cx="7772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924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交易、审核、任务奖励等状态正确联动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932688" y="3776472"/>
            <a:ext cx="265176" cy="265176"/>
          </a:xfrm>
          <a:prstGeom prst="ellipse">
            <a:avLst/>
          </a:prstGeom>
          <a:solidFill>
            <a:srgbClr val="1D6B57"/>
          </a:solidFill>
          <a:ln w="12700">
            <a:solidFill>
              <a:srgbClr val="1D6B5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32688" y="3822192"/>
            <a:ext cx="2651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508760" y="3749040"/>
            <a:ext cx="7772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924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共享类型与 Pinia 状态管理支撑页面数据流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32688" y="4416552"/>
            <a:ext cx="265176" cy="265176"/>
          </a:xfrm>
          <a:prstGeom prst="ellipse">
            <a:avLst/>
          </a:prstGeom>
          <a:solidFill>
            <a:srgbClr val="1D6B57"/>
          </a:solidFill>
          <a:ln w="12700">
            <a:solidFill>
              <a:srgbClr val="1D6B5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2688" y="4462272"/>
            <a:ext cx="2651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508760" y="4389120"/>
            <a:ext cx="7772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924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README、立项书和答辩 PPT 完整可用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961120" y="1847088"/>
            <a:ext cx="2286000" cy="3273552"/>
          </a:xfrm>
          <a:prstGeom prst="roundRect">
            <a:avLst>
              <a:gd name="adj" fmla="val 2000"/>
            </a:avLst>
          </a:prstGeom>
          <a:solidFill>
            <a:srgbClr val="21352C"/>
          </a:solidFill>
          <a:ln w="12700">
            <a:solidFill>
              <a:srgbClr val="21352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217152" y="2148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7F5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预期成果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281160" y="2743200"/>
            <a:ext cx="162763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DCE5D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可运行前端原型</a:t>
            </a:r>
            <a:endParaRPr lang="en-US" sz="1150" dirty="0"/>
          </a:p>
          <a:p>
            <a:pPr algn="ctr" indent="0" marL="0">
              <a:buNone/>
            </a:pP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DCE5D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源码仓库与协作规范</a:t>
            </a:r>
            <a:endParaRPr lang="en-US" sz="1150" dirty="0"/>
          </a:p>
          <a:p>
            <a:pPr algn="ctr" indent="0" marL="0">
              <a:buNone/>
            </a:pP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DCE5D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立项书与答辩材料</a:t>
            </a:r>
            <a:endParaRPr lang="en-US" sz="1150" dirty="0"/>
          </a:p>
          <a:p>
            <a:pPr algn="ctr" indent="0" marL="0">
              <a:buNone/>
            </a:pP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DCE5D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后续迭代路线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1908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E665E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D2A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D2A24"/>
          </a:solidFill>
          <a:ln w="12700">
            <a:solidFill>
              <a:srgbClr val="1D2A2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97280" y="3383280"/>
            <a:ext cx="4389120" cy="4389120"/>
          </a:xfrm>
          <a:prstGeom prst="arc">
            <a:avLst/>
          </a:prstGeom>
          <a:noFill/>
          <a:ln w="25400">
            <a:solidFill>
              <a:srgbClr val="E05A33">
                <a:alpha val="8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126187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C4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THANK YOU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21792" y="175564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700" b="1" dirty="0">
                <a:solidFill>
                  <a:srgbClr val="F7F5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谢谢聆听</a:t>
            </a:r>
            <a:endParaRPr lang="en-US" sz="3700" dirty="0"/>
          </a:p>
        </p:txBody>
      </p:sp>
      <p:sp>
        <p:nvSpPr>
          <p:cNvPr id="6" name="Text 4"/>
          <p:cNvSpPr/>
          <p:nvPr/>
        </p:nvSpPr>
        <p:spPr>
          <a:xfrm>
            <a:off x="658368" y="265176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DCE5D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以数据化反馈连接学习、教学与参与。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58368" y="546811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BFCBB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学林街之狼项目组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1908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E665E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学林街之狼项目组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学林街之狼项目立项答辩</dc:title>
  <dc:subject>项目立项答辩</dc:subject>
  <dc:creator>学林街之狼项目组</dc:creator>
  <cp:lastModifiedBy>学林街之狼项目组</cp:lastModifiedBy>
  <cp:revision>1</cp:revision>
  <dcterms:created xsi:type="dcterms:W3CDTF">2026-09-02T05:53:14Z</dcterms:created>
  <dcterms:modified xsi:type="dcterms:W3CDTF">2026-09-02T05:53:14Z</dcterms:modified>
</cp:coreProperties>
</file>