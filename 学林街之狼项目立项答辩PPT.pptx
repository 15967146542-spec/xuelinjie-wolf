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05A33"/>
          </a:solidFill>
          <a:ln w="12700">
            <a:solidFill>
              <a:srgbClr val="E05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27648"/>
            <a:ext cx="11183112" cy="9144"/>
          </a:xfrm>
          <a:prstGeom prst="rect">
            <a:avLst/>
          </a:prstGeom>
          <a:solidFill>
            <a:srgbClr val="C9C3B8"/>
          </a:solidFill>
          <a:ln w="12700">
            <a:solidFill>
              <a:srgbClr val="C9C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学林街之狼 | 项目立项答辩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680960" y="641908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校园教学评价与模拟投资激励平台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65E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65E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005840"/>
            <a:ext cx="5303520" cy="5303520"/>
          </a:xfrm>
          <a:prstGeom prst="arc">
            <a:avLst/>
          </a:prstGeom>
          <a:noFill/>
          <a:ln w="38100">
            <a:solidFill>
              <a:srgbClr val="E05A33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49640" y="-228600"/>
            <a:ext cx="3886200" cy="3886200"/>
          </a:xfrm>
          <a:prstGeom prst="arc">
            <a:avLst/>
          </a:prstGeom>
          <a:noFill/>
          <a:ln w="19050">
            <a:solidFill>
              <a:srgbClr val="D9B44A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31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PROPOSAL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12344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7F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学林街之狼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208483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5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校园教学评价与模拟投资激励平台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816352"/>
            <a:ext cx="1965960" cy="0"/>
          </a:xfrm>
          <a:prstGeom prst="line">
            <a:avLst/>
          </a:prstGeom>
          <a:noFill/>
          <a:ln w="25400">
            <a:solidFill>
              <a:srgbClr val="E05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CE5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项目立项答辩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52303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C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四人协作开发 | 前端原型项目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55961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FC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9 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65E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9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E05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BACKGROUND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项目背景与痛点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984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让课程反馈从分散、滞后的信息，变成可理解、可参与的校园体验。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93008" cy="3520440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8890">
            <a:solidFill>
              <a:srgbClr val="D7D0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73152" cy="3520440"/>
          </a:xfrm>
          <a:prstGeom prst="rect">
            <a:avLst/>
          </a:prstGeom>
          <a:solidFill>
            <a:srgbClr val="E05A33"/>
          </a:solidFill>
          <a:ln w="12700">
            <a:solidFill>
              <a:srgbClr val="E05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0312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496312"/>
            <a:ext cx="3017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选课信息与学习反馈分散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难以快速理解课程特点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参与评价的动力不足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352544" y="1874520"/>
            <a:ext cx="3493008" cy="3520440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8890">
            <a:solidFill>
              <a:srgbClr val="D7D0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52544" y="1874520"/>
            <a:ext cx="73152" cy="352044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210312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教师与管理侧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08576" y="2496312"/>
            <a:ext cx="3017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评价反馈难以直观汇总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缺少审核和处理入口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教学趋势不易追踪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065008" y="1874520"/>
            <a:ext cx="3493008" cy="3520440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8890">
            <a:solidFill>
              <a:srgbClr val="D7D0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65008" y="1874520"/>
            <a:ext cx="73152" cy="352044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10312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项目切入点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2496312"/>
            <a:ext cx="3017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行情看板式信息组织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任务与积分激励参与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可视化展示评价变化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65E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9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E05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VISION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项目定位与目标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984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以虚拟积分和模拟数据构建教学互动原型，不提供真实金融服务。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4800600" cy="3520440"/>
          </a:xfrm>
          <a:prstGeom prst="roundRect">
            <a:avLst>
              <a:gd name="adj" fmla="val 1558"/>
            </a:avLst>
          </a:prstGeom>
          <a:solidFill>
            <a:srgbClr val="21352C"/>
          </a:solidFill>
          <a:ln w="12700">
            <a:solidFill>
              <a:srgbClr val="2135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0428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7F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“评价可看见，参与有反馈”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CE5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将课程评价、任务成长和模拟资产统一到一个可视化平台。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42432" y="1874520"/>
            <a:ext cx="182880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890">
            <a:solidFill>
              <a:srgbClr val="D7D0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1874520"/>
            <a:ext cx="73152" cy="3520440"/>
          </a:xfrm>
          <a:prstGeom prst="rect">
            <a:avLst/>
          </a:prstGeom>
          <a:solidFill>
            <a:srgbClr val="E05A33"/>
          </a:solidFill>
          <a:ln w="12700">
            <a:solidFill>
              <a:srgbClr val="E05A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98464" y="2103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98464" y="2496312"/>
            <a:ext cx="135331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覆盖核心校园互动场景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完成可演示原型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7772400" y="1874520"/>
            <a:ext cx="182880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890">
            <a:solidFill>
              <a:srgbClr val="D7D0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1874520"/>
            <a:ext cx="73152" cy="352044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28432" y="2103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28432" y="2496312"/>
            <a:ext cx="135331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统一状态与数据模型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实现模块数据联动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802368" y="1874520"/>
            <a:ext cx="182880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890">
            <a:solidFill>
              <a:srgbClr val="D7D0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02368" y="1874520"/>
            <a:ext cx="73152" cy="352044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0" y="2103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0" y="2496312"/>
            <a:ext cx="135331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 API 与权限边界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支持持续迭代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65E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9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E05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SCOPE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核心功能范围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984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围绕“浏览 - 参与 - 激励 - 管理”构建完整原型闭环。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58952" y="1920240"/>
            <a:ext cx="310896" cy="310896"/>
          </a:xfrm>
          <a:prstGeom prst="ellipse">
            <a:avLst/>
          </a:prstGeom>
          <a:solidFill>
            <a:srgbClr val="E05A33"/>
          </a:solidFill>
          <a:ln w="12700">
            <a:solidFill>
              <a:srgbClr val="E05A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947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261872" y="18105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行情与详情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03320" y="184708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课程标的、评分、热度、K 线与评教趋势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61872" y="2377440"/>
            <a:ext cx="9646920" cy="0"/>
          </a:xfrm>
          <a:prstGeom prst="line">
            <a:avLst/>
          </a:prstGeom>
          <a:noFill/>
          <a:ln w="7620">
            <a:solidFill>
              <a:srgbClr val="D7D0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2724912"/>
            <a:ext cx="310896" cy="310896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75234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261872" y="261518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模拟交易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03320" y="265176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买卖、持仓、手续费、仓位上限与 T+1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61872" y="3182112"/>
            <a:ext cx="9646920" cy="0"/>
          </a:xfrm>
          <a:prstGeom prst="line">
            <a:avLst/>
          </a:prstGeom>
          <a:noFill/>
          <a:ln w="7620">
            <a:solidFill>
              <a:srgbClr val="D7D0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" y="3529584"/>
            <a:ext cx="310896" cy="310896"/>
          </a:xfrm>
          <a:prstGeom prst="ellipse">
            <a:avLst/>
          </a:prstGeom>
          <a:solidFill>
            <a:srgbClr val="E05A33"/>
          </a:solidFill>
          <a:ln w="12700">
            <a:solidFill>
              <a:srgbClr val="E05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355701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61872" y="341985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评价与任务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03320" y="345643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签到、匿名评教、审核状态、奖励发放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61872" y="3986784"/>
            <a:ext cx="9646920" cy="0"/>
          </a:xfrm>
          <a:prstGeom prst="line">
            <a:avLst/>
          </a:prstGeom>
          <a:noFill/>
          <a:ln w="7620">
            <a:solidFill>
              <a:srgbClr val="D7D0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4334256"/>
            <a:ext cx="310896" cy="310896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436168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261872" y="42245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排行榜与个人中心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03320" y="426110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资产、权益、称号与参与成果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261872" y="4791456"/>
            <a:ext cx="9646920" cy="0"/>
          </a:xfrm>
          <a:prstGeom prst="line">
            <a:avLst/>
          </a:prstGeom>
          <a:noFill/>
          <a:ln w="7620">
            <a:solidFill>
              <a:srgbClr val="D7D0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" y="5138928"/>
            <a:ext cx="310896" cy="310896"/>
          </a:xfrm>
          <a:prstGeom prst="ellipse">
            <a:avLst/>
          </a:prstGeom>
          <a:solidFill>
            <a:srgbClr val="E05A33"/>
          </a:solidFill>
          <a:ln w="12700">
            <a:solidFill>
              <a:srgbClr val="E05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516636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61872" y="5029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703320" y="506577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宏观因子、评教审核、收盘结算模拟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261872" y="5596128"/>
            <a:ext cx="9646920" cy="0"/>
          </a:xfrm>
          <a:prstGeom prst="line">
            <a:avLst/>
          </a:prstGeom>
          <a:noFill/>
          <a:ln w="7620">
            <a:solidFill>
              <a:srgbClr val="D7D0C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65E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9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E05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技术方案与系统架构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984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组件化页面、集中状态管理和 Mock 数据源，兼顾快速验证与后续扩展。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6002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3970">
            <a:solidFill>
              <a:srgbClr val="E05A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7523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用户角色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758952" y="3154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 / 管理员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2971800" y="2514600"/>
            <a:ext cx="16002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3970">
            <a:solidFill>
              <a:srgbClr val="1D6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0672" y="27523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页面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3090672" y="3154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views + router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5303520" y="2514600"/>
            <a:ext cx="16002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3970">
            <a:solidFill>
              <a:srgbClr val="D9A4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2392" y="27523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业务状态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5422392" y="3154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Pinia stores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635240" y="2514600"/>
            <a:ext cx="16002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3970">
            <a:solidFill>
              <a:srgbClr val="E05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54112" y="27523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7754112" y="3154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 + mock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9966960" y="2514600"/>
            <a:ext cx="16002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3970">
            <a:solidFill>
              <a:srgbClr val="1D6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85832" y="27523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后续扩展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10085832" y="3154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/ 权限 / 数据库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2404872" y="2944368"/>
            <a:ext cx="347472" cy="320040"/>
          </a:xfrm>
          <a:prstGeom prst="chevron">
            <a:avLst/>
          </a:prstGeom>
          <a:solidFill>
            <a:srgbClr val="D7D0C4"/>
          </a:solidFill>
          <a:ln w="12700">
            <a:solidFill>
              <a:srgbClr val="D7D0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36592" y="2944368"/>
            <a:ext cx="347472" cy="320040"/>
          </a:xfrm>
          <a:prstGeom prst="chevron">
            <a:avLst/>
          </a:prstGeom>
          <a:solidFill>
            <a:srgbClr val="D7D0C4"/>
          </a:solidFill>
          <a:ln w="12700">
            <a:solidFill>
              <a:srgbClr val="D7D0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68312" y="2944368"/>
            <a:ext cx="347472" cy="320040"/>
          </a:xfrm>
          <a:prstGeom prst="chevron">
            <a:avLst/>
          </a:prstGeom>
          <a:solidFill>
            <a:srgbClr val="D7D0C4"/>
          </a:solidFill>
          <a:ln w="12700">
            <a:solidFill>
              <a:srgbClr val="D7D0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00032" y="2944368"/>
            <a:ext cx="347472" cy="320040"/>
          </a:xfrm>
          <a:prstGeom prst="chevron">
            <a:avLst/>
          </a:prstGeom>
          <a:solidFill>
            <a:srgbClr val="D7D0C4"/>
          </a:solidFill>
          <a:ln w="12700">
            <a:solidFill>
              <a:srgbClr val="D7D0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475488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前端原型阶段：业务数据由 Pinia store 统一管理，刷新后恢复初始 Mock 数据。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65E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9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E05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用户流程设计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984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学生完成从发现课程到评价反馈的闭环，管理员保障内容质量。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1792" y="2148840"/>
            <a:ext cx="1755648" cy="1463040"/>
          </a:xfrm>
          <a:prstGeom prst="roundRect">
            <a:avLst>
              <a:gd name="adj" fmla="val 3125"/>
            </a:avLst>
          </a:prstGeom>
          <a:solidFill>
            <a:srgbClr val="FDE9E2"/>
          </a:solidFill>
          <a:ln w="12700">
            <a:solidFill>
              <a:srgbClr val="F0B5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3957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05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6384" y="2743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浏览行情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31455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发现课程与热度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2715768"/>
            <a:ext cx="256032" cy="292608"/>
          </a:xfrm>
          <a:prstGeom prst="chevron">
            <a:avLst/>
          </a:prstGeom>
          <a:solidFill>
            <a:srgbClr val="D7D0C4"/>
          </a:solidFill>
          <a:ln w="12700">
            <a:solidFill>
              <a:srgbClr val="D7D0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35224" y="2148840"/>
            <a:ext cx="1755648" cy="1463040"/>
          </a:xfrm>
          <a:prstGeom prst="roundRect">
            <a:avLst>
              <a:gd name="adj" fmla="val 3125"/>
            </a:avLst>
          </a:prstGeom>
          <a:solidFill>
            <a:srgbClr val="E5EEE8"/>
          </a:solidFill>
          <a:ln w="12700">
            <a:solidFill>
              <a:srgbClr val="B8D0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9816" y="23957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D6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99816" y="2743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查看详情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99816" y="31455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了解评分与趋势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82312" y="2715768"/>
            <a:ext cx="256032" cy="292608"/>
          </a:xfrm>
          <a:prstGeom prst="chevron">
            <a:avLst/>
          </a:prstGeom>
          <a:solidFill>
            <a:srgbClr val="D7D0C4"/>
          </a:solidFill>
          <a:ln w="12700">
            <a:solidFill>
              <a:srgbClr val="D7D0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48656" y="2148840"/>
            <a:ext cx="1755648" cy="1463040"/>
          </a:xfrm>
          <a:prstGeom prst="roundRect">
            <a:avLst>
              <a:gd name="adj" fmla="val 3125"/>
            </a:avLst>
          </a:prstGeom>
          <a:solidFill>
            <a:srgbClr val="FDE9E2"/>
          </a:solidFill>
          <a:ln w="12700">
            <a:solidFill>
              <a:srgbClr val="F0B5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23957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05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13248" y="2743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模拟交易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13248" y="31455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形成虚拟持仓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095744" y="2715768"/>
            <a:ext cx="256032" cy="292608"/>
          </a:xfrm>
          <a:prstGeom prst="chevron">
            <a:avLst/>
          </a:prstGeom>
          <a:solidFill>
            <a:srgbClr val="D7D0C4"/>
          </a:solidFill>
          <a:ln w="12700">
            <a:solidFill>
              <a:srgbClr val="D7D0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62088" y="2148840"/>
            <a:ext cx="1755648" cy="1463040"/>
          </a:xfrm>
          <a:prstGeom prst="roundRect">
            <a:avLst>
              <a:gd name="adj" fmla="val 3125"/>
            </a:avLst>
          </a:prstGeom>
          <a:solidFill>
            <a:srgbClr val="E5EEE8"/>
          </a:solidFill>
          <a:ln w="12700">
            <a:solidFill>
              <a:srgbClr val="B8D0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23957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D6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26680" y="2743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签到评教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26680" y="31455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提交匿名反馈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409176" y="2715768"/>
            <a:ext cx="256032" cy="292608"/>
          </a:xfrm>
          <a:prstGeom prst="chevron">
            <a:avLst/>
          </a:prstGeom>
          <a:solidFill>
            <a:srgbClr val="D7D0C4"/>
          </a:solidFill>
          <a:ln w="12700">
            <a:solidFill>
              <a:srgbClr val="D7D0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75520" y="2148840"/>
            <a:ext cx="1755648" cy="1463040"/>
          </a:xfrm>
          <a:prstGeom prst="roundRect">
            <a:avLst>
              <a:gd name="adj" fmla="val 3125"/>
            </a:avLst>
          </a:prstGeom>
          <a:solidFill>
            <a:srgbClr val="FDE9E2"/>
          </a:solidFill>
          <a:ln w="12700">
            <a:solidFill>
              <a:srgbClr val="F0B5A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40112" y="23957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05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40112" y="2743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领取奖励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40112" y="31455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完成任务成长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148840" y="4389120"/>
            <a:ext cx="7909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8890">
            <a:solidFill>
              <a:srgbClr val="D7D0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48840" y="4389120"/>
            <a:ext cx="73152" cy="86868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04872" y="4617720"/>
            <a:ext cx="7452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管理闭环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404872" y="5010912"/>
            <a:ext cx="7434072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管理员审核评价、处理异常内容，并通过模拟结算展示数据变化。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65E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9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E05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TEAM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团队分工与协作机制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984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按页面和业务状态边界分工，用 Git 分支与 Pull Request 进行协作。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056632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8890">
            <a:solidFill>
              <a:srgbClr val="D7D0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212848"/>
            <a:ext cx="621792" cy="621792"/>
          </a:xfrm>
          <a:prstGeom prst="ellipse">
            <a:avLst/>
          </a:prstGeom>
          <a:solidFill>
            <a:srgbClr val="E05A33"/>
          </a:solidFill>
          <a:ln w="12700">
            <a:solidFill>
              <a:srgbClr val="E05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40487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19072" y="21122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33472" y="211226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行情与标的详情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19072" y="256946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Market / StockDetail / KLine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6217920" y="1874520"/>
            <a:ext cx="5056632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8890">
            <a:solidFill>
              <a:srgbClr val="D7D0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73952" y="2212848"/>
            <a:ext cx="621792" cy="621792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240487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96912" y="21122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11312" y="211226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模拟交易与个人资产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96912" y="256946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Trade / Profile / trade store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5056632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8890">
            <a:solidFill>
              <a:srgbClr val="D7D0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" y="3904488"/>
            <a:ext cx="621792" cy="621792"/>
          </a:xfrm>
          <a:prstGeom prst="ellipse">
            <a:avLst/>
          </a:prstGeom>
          <a:solidFill>
            <a:srgbClr val="E05A33"/>
          </a:solidFill>
          <a:ln w="12700">
            <a:solidFill>
              <a:srgbClr val="E05A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09651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19072" y="38039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33472" y="380390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评教、任务与排行榜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19072" y="426110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 / Task / Ranking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6217920" y="3566160"/>
            <a:ext cx="5056632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8890">
            <a:solidFill>
              <a:srgbClr val="D7D0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3952" y="3904488"/>
            <a:ext cx="621792" cy="621792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409651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96912" y="38039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11312" y="380390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管理端与项目集成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96912" y="426110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/ Router / Types / QA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914400" y="523036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协作规则：功能分支开发 -&gt; 构建验证 -&gt; Pull Request -&gt; 至少一人审查 -&gt; 合并 main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65E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9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E05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实施计划与阶段交付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984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建议周期为 6 周，每周都有清晰的可检查成果。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0120" y="3218688"/>
            <a:ext cx="10222992" cy="0"/>
          </a:xfrm>
          <a:prstGeom prst="line">
            <a:avLst/>
          </a:prstGeom>
          <a:noFill/>
          <a:ln w="25400">
            <a:solidFill>
              <a:srgbClr val="D7D0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16736" y="2898648"/>
            <a:ext cx="640080" cy="640080"/>
          </a:xfrm>
          <a:prstGeom prst="ellipse">
            <a:avLst/>
          </a:prstGeom>
          <a:solidFill>
            <a:srgbClr val="E05A33"/>
          </a:solidFill>
          <a:ln w="12700">
            <a:solidFill>
              <a:srgbClr val="E05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16736" y="30998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2996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5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3957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需求与设计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38221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需求清单、页面结构、分工表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02736" y="2898648"/>
            <a:ext cx="640080" cy="640080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30998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44368" y="202996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6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2-3 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44368" y="23957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核心开发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44368" y="38221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行情、交易、评价、任务流程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88736" y="2898648"/>
            <a:ext cx="640080" cy="640080"/>
          </a:xfrm>
          <a:prstGeom prst="ellipse">
            <a:avLst/>
          </a:prstGeom>
          <a:solidFill>
            <a:srgbClr val="E05A33"/>
          </a:solidFill>
          <a:ln w="12700">
            <a:solidFill>
              <a:srgbClr val="E05A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88736" y="30998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30368" y="202996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5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30368" y="23957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管理与联调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30368" y="38221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管理端、个人中心、全流程原型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74736" y="2898648"/>
            <a:ext cx="640080" cy="640080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74736" y="30998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16368" y="202996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6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16368" y="23957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测试与优化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16368" y="38221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构建检查、规则测试、问题修复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460736" y="2898648"/>
            <a:ext cx="640080" cy="640080"/>
          </a:xfrm>
          <a:prstGeom prst="ellipse">
            <a:avLst/>
          </a:prstGeom>
          <a:solidFill>
            <a:srgbClr val="E05A33"/>
          </a:solidFill>
          <a:ln w="12700">
            <a:solidFill>
              <a:srgbClr val="E05A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60736" y="30998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802368" y="202996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5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周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02368" y="23957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交付与答辩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02368" y="38221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文档、PPT、演示脚本与项目包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65E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9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E05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GOVERNANCE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风险、隐私与伦理控制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984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将产品趣味性限制在教学场景内，把数据与评价治理作为前置条件。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93008" cy="33375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8890">
            <a:solidFill>
              <a:srgbClr val="D7D0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73152" cy="333756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0312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数据与隐私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496312"/>
            <a:ext cx="3017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原型仅使用虚构数据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后续遵循最小化采集原则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真实数据须脱敏并取得授权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352544" y="1874520"/>
            <a:ext cx="3493008" cy="33375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8890">
            <a:solidFill>
              <a:srgbClr val="D7D0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52544" y="1874520"/>
            <a:ext cx="73152" cy="3337560"/>
          </a:xfrm>
          <a:prstGeom prst="rect">
            <a:avLst/>
          </a:prstGeom>
          <a:solidFill>
            <a:srgbClr val="E05A33"/>
          </a:solidFill>
          <a:ln w="12700">
            <a:solidFill>
              <a:srgbClr val="E05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210312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评价治理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08576" y="2496312"/>
            <a:ext cx="3017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支持审核、驳回和降权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防范攻击性与失实内容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避免评价结果被不当传播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065008" y="1874520"/>
            <a:ext cx="3493008" cy="33375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8890">
            <a:solidFill>
              <a:srgbClr val="D7D0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65008" y="1874520"/>
            <a:ext cx="73152" cy="333756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10312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合规边界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2496312"/>
            <a:ext cx="3017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虚拟积分不具备货币属性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不涉及交易、支付或收益承诺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不提供投资建议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65E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9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E05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ACCEPTANCE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验收标准与预期成果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984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以“能运行、可演示、可协作、可迭代”为本期交付标准。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32688" y="1856232"/>
            <a:ext cx="265176" cy="265176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01952"/>
            <a:ext cx="265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可完成依赖安装、开发启动和生产构建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32688" y="2496312"/>
            <a:ext cx="265176" cy="265176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542032"/>
            <a:ext cx="265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246888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八类核心页面均可正常访问与演示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32688" y="3136392"/>
            <a:ext cx="265176" cy="265176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182112"/>
            <a:ext cx="265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08760" y="310896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交易、审核、任务奖励等状态正确联动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2688" y="3776472"/>
            <a:ext cx="265176" cy="265176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822192"/>
            <a:ext cx="265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08760" y="374904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共享类型与 Pinia 状态管理支撑页面数据流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32688" y="4416552"/>
            <a:ext cx="265176" cy="265176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462272"/>
            <a:ext cx="265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08760" y="438912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9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README、立项书和答辩 PPT 完整可用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61120" y="1847088"/>
            <a:ext cx="2286000" cy="3273552"/>
          </a:xfrm>
          <a:prstGeom prst="roundRect">
            <a:avLst>
              <a:gd name="adj" fmla="val 2000"/>
            </a:avLst>
          </a:prstGeom>
          <a:solidFill>
            <a:srgbClr val="21352C"/>
          </a:solidFill>
          <a:ln w="12700">
            <a:solidFill>
              <a:srgbClr val="2135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7152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81160" y="2743200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5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可运行前端原型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CE5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源码仓库与协作规范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CE5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立项书与答辩材料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CE5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后续迭代路线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65E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383280"/>
            <a:ext cx="4389120" cy="4389120"/>
          </a:xfrm>
          <a:prstGeom prst="arc">
            <a:avLst/>
          </a:prstGeom>
          <a:noFill/>
          <a:ln w="25400">
            <a:solidFill>
              <a:srgbClr val="E05A33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7556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7F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658368" y="26517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CE5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以数据化反馈连接学习、教学与参与。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5468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C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学林街之狼项目组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65E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学林街之狼项目组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学林街之狼项目立项答辩</dc:title>
  <dc:subject>项目立项答辩</dc:subject>
  <dc:creator>学林街之狼项目组</dc:creator>
  <cp:lastModifiedBy>学林街之狼项目组</cp:lastModifiedBy>
  <cp:revision>1</cp:revision>
  <dcterms:created xsi:type="dcterms:W3CDTF">2026-09-01T16:01:49Z</dcterms:created>
  <dcterms:modified xsi:type="dcterms:W3CDTF">2026-09-01T16:01:49Z</dcterms:modified>
</cp:coreProperties>
</file>